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1295C">
              <a:alpha val="6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7315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spc="300" kern="0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开题报告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3000" b="1" spc="200" kern="0" dirty="0">
                <a:solidFill>
                  <a:srgbClr val="FFFFFF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类脑脉冲神经网络与传统人工神经网络的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457200" y="19659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3000" b="1" spc="200" kern="0" dirty="0">
                <a:solidFill>
                  <a:srgbClr val="FFFFFF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电路实现对比研究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3200400" y="2651760"/>
            <a:ext cx="2743200" cy="27432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27889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B0D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Comparative Study on Circuit Implementation of SNN and ANN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38404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林意哲  |  上海市金陵中学  |  金陵实践点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4206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B0D0E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智能芯片与信息技术实践工作站  |  2026年7月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目录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53035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B0D0E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CONTENTS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645920" y="1143000"/>
            <a:ext cx="5852160" cy="384048"/>
          </a:xfrm>
          <a:prstGeom prst="rect">
            <a:avLst/>
          </a:prstGeom>
          <a:solidFill>
            <a:srgbClr val="F0F7FA"/>
          </a:solidFill>
          <a:ln w="6350">
            <a:solidFill>
              <a:srgbClr val="B0C4D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645920" y="1143000"/>
            <a:ext cx="45720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C729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2194560" y="1143000"/>
            <a:ext cx="521208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一、课题来源（选题依据）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645920" y="1618488"/>
            <a:ext cx="585216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B0C4D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645920" y="1618488"/>
            <a:ext cx="45720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C729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2194560" y="1618488"/>
            <a:ext cx="521208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二、课题研究的目的和意义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645920" y="2093976"/>
            <a:ext cx="5852160" cy="384048"/>
          </a:xfrm>
          <a:prstGeom prst="rect">
            <a:avLst/>
          </a:prstGeom>
          <a:solidFill>
            <a:srgbClr val="F0F7FA"/>
          </a:solidFill>
          <a:ln w="6350">
            <a:solidFill>
              <a:srgbClr val="B0C4D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645920" y="2093976"/>
            <a:ext cx="45720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C729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194560" y="2093976"/>
            <a:ext cx="521208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三、国内外研究现状与存在的问题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1645920" y="2569464"/>
            <a:ext cx="585216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B0C4D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645920" y="2569464"/>
            <a:ext cx="45720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C729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2194560" y="2569464"/>
            <a:ext cx="521208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四、研究内容和拟解决的关键问题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1645920" y="3044952"/>
            <a:ext cx="5852160" cy="384048"/>
          </a:xfrm>
          <a:prstGeom prst="rect">
            <a:avLst/>
          </a:prstGeom>
          <a:solidFill>
            <a:srgbClr val="F0F7FA"/>
          </a:solidFill>
          <a:ln w="6350">
            <a:solidFill>
              <a:srgbClr val="B0C4D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645920" y="3044952"/>
            <a:ext cx="45720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C729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2194560" y="3044952"/>
            <a:ext cx="521208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五、研究方法与技术路线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1645920" y="3520440"/>
            <a:ext cx="585216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B0C4D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645920" y="3520440"/>
            <a:ext cx="45720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C729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2194560" y="3520440"/>
            <a:ext cx="521208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六、预期研究成果和创新点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1645920" y="3995928"/>
            <a:ext cx="5852160" cy="384048"/>
          </a:xfrm>
          <a:prstGeom prst="rect">
            <a:avLst/>
          </a:prstGeom>
          <a:solidFill>
            <a:srgbClr val="F0F7FA"/>
          </a:solidFill>
          <a:ln w="6350">
            <a:solidFill>
              <a:srgbClr val="B0C4D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645920" y="3995928"/>
            <a:ext cx="45720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C729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2194560" y="3995928"/>
            <a:ext cx="521208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七、研究进度安排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一、课题来源（选题依据）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53035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B0D0E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Origin of the Research Topic</a:t>
            </a:r>
            <a:endParaRPr lang="en-US" sz="1300" dirty="0"/>
          </a:p>
        </p:txBody>
      </p:sp>
      <p:pic>
        <p:nvPicPr>
          <p:cNvPr id="5" name="Image 0" descr="/Users/ethanlin/.trae-cn/work/6a5af1bd2c266e811f3f6f8b/images/image-neuron_4x3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754880" y="1051560"/>
            <a:ext cx="3931920" cy="29260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005840"/>
            <a:ext cx="4114800" cy="3108960"/>
          </a:xfrm>
          <a:prstGeom prst="rect">
            <a:avLst/>
          </a:prstGeom>
          <a:solidFill>
            <a:srgbClr val="F0F7FA"/>
          </a:solidFill>
          <a:ln w="12700">
            <a:solidFill>
              <a:srgbClr val="B0C4D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" y="109728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选题缘起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640080" y="1417320"/>
            <a:ext cx="3749040" cy="26060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在课题组学习中，我先后学习了生物神经元（单元一）、ANN算法（单元二、三）和数字电路MAC单元（单元四至六）。
</a:t>
            </a:r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单元一课堂上，老师提到：</a:t>
            </a:r>
            <a:pPr algn="l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"SNN比ANN功耗更低，是前沿方向"</a:t>
            </a:r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。这句话引发了我的好奇——
</a:t>
            </a:r>
            <a:pPr algn="l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SNN到底能省多少电？代价是什么？</a:t>
            </a:r>
            <a:pPr algn="l" indent="0" marL="0">
              <a:lnSpc>
                <a:spcPct val="110000"/>
              </a:lnSpc>
              <a:buNone/>
            </a:pPr>
            <a:endParaRPr lang="en-US" sz="1000" dirty="0"/>
          </a:p>
          <a:p>
            <a:pPr algn="l" indent="0" marL="0">
              <a:lnSpc>
                <a:spcPct val="110000"/>
              </a:lnSpc>
              <a:buNone/>
            </a:pPr>
            <a:endParaRPr lang="en-US" sz="10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查阅文献发现，"SNN更省电"是定性结论，但量化关系缺乏实验数据——这正是本课题要探索的。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二、课题研究的目的和意义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53035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B0D0E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Research Objectives &amp; Significance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研究目的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02920" y="1325880"/>
            <a:ext cx="292608" cy="29260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132588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68680" y="1325880"/>
            <a:ext cx="914400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ANN基线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828800" y="1325880"/>
            <a:ext cx="2468880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Python手写MLP(784-300-10)，MNIST准确率≥95%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02920" y="1783080"/>
            <a:ext cx="292608" cy="29260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178308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68680" y="1783080"/>
            <a:ext cx="914400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SNN转换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828800" y="1783080"/>
            <a:ext cx="2468880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ANN-to-SNN转换，验证SNN识别能力，准确率≥85%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02920" y="2240280"/>
            <a:ext cx="292608" cy="29260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5" name="Text 13"/>
          <p:cNvSpPr/>
          <p:nvPr/>
        </p:nvSpPr>
        <p:spPr>
          <a:xfrm>
            <a:off x="502920" y="224028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68680" y="2240280"/>
            <a:ext cx="914400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硬件电路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828800" y="2240280"/>
            <a:ext cx="2468880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Cadence搭建ANN-MAC与SNN-IF电路，提取硬件指标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02920" y="2697480"/>
            <a:ext cx="292608" cy="29260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9" name="Text 17"/>
          <p:cNvSpPr/>
          <p:nvPr/>
        </p:nvSpPr>
        <p:spPr>
          <a:xfrm>
            <a:off x="502920" y="269748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68680" y="2697480"/>
            <a:ext cx="914400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对比分析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828800" y="2697480"/>
            <a:ext cx="2468880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量化对比两种计算范式的硬件开销差异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02920" y="3154680"/>
            <a:ext cx="292608" cy="29260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3" name="Text 21"/>
          <p:cNvSpPr/>
          <p:nvPr/>
        </p:nvSpPr>
        <p:spPr>
          <a:xfrm>
            <a:off x="502920" y="315468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5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68680" y="3154680"/>
            <a:ext cx="914400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Trade-off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828800" y="3154680"/>
            <a:ext cx="2468880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拟合准确率-功耗定量关系曲线（最终结论）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663440" y="1005840"/>
            <a:ext cx="18288" cy="3474720"/>
          </a:xfrm>
          <a:prstGeom prst="rect">
            <a:avLst/>
          </a:prstGeom>
          <a:solidFill>
            <a:srgbClr val="B0C4D8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100584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研究意义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4937760" y="1371600"/>
            <a:ext cx="3840480" cy="914400"/>
          </a:xfrm>
          <a:prstGeom prst="rect">
            <a:avLst/>
          </a:prstGeom>
          <a:solidFill>
            <a:srgbClr val="F0F7FA"/>
          </a:solidFill>
          <a:ln w="12700">
            <a:solidFill>
              <a:srgbClr val="B0C4D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937760" y="1371600"/>
            <a:ext cx="73152" cy="91440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0" name="Text 28"/>
          <p:cNvSpPr/>
          <p:nvPr/>
        </p:nvSpPr>
        <p:spPr>
          <a:xfrm>
            <a:off x="5120640" y="1444752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065A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定量分析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120640" y="1719072"/>
            <a:ext cx="347472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将"SNN更省电"的定性结论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升维为量化模型，回答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"每降1%准确率省多少功耗"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937760" y="2423160"/>
            <a:ext cx="3840480" cy="914400"/>
          </a:xfrm>
          <a:prstGeom prst="rect">
            <a:avLst/>
          </a:prstGeom>
          <a:solidFill>
            <a:srgbClr val="F0F7FA"/>
          </a:solidFill>
          <a:ln w="12700">
            <a:solidFill>
              <a:srgbClr val="B0C4D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937760" y="2423160"/>
            <a:ext cx="73152" cy="91440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4" name="Text 32"/>
          <p:cNvSpPr/>
          <p:nvPr/>
        </p:nvSpPr>
        <p:spPr>
          <a:xfrm>
            <a:off x="5120640" y="2496312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065A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软硬结合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5120640" y="2770632"/>
            <a:ext cx="347472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Python软件仿真+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Cadence硬件设计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跨工具跨领域综合实践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937760" y="3474720"/>
            <a:ext cx="3840480" cy="914400"/>
          </a:xfrm>
          <a:prstGeom prst="rect">
            <a:avLst/>
          </a:prstGeom>
          <a:solidFill>
            <a:srgbClr val="F0F7FA"/>
          </a:solidFill>
          <a:ln w="12700">
            <a:solidFill>
              <a:srgbClr val="B0C4D8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937760" y="3474720"/>
            <a:ext cx="73152" cy="91440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38" name="Text 36"/>
          <p:cNvSpPr/>
          <p:nvPr/>
        </p:nvSpPr>
        <p:spPr>
          <a:xfrm>
            <a:off x="5120640" y="3547872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065A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类脑扣题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5120640" y="3822192"/>
            <a:ext cx="347472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SNN是最类脑的计算模型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从硬件层面研究SNN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优势与代价，紧扣主题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三、国内外研究现状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53035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B0D0E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State of the Art at Home and Abroad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96012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国际进展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280160"/>
            <a:ext cx="3931920" cy="914400"/>
          </a:xfrm>
          <a:prstGeom prst="rect">
            <a:avLst/>
          </a:prstGeom>
          <a:solidFill>
            <a:srgbClr val="F0F7FA"/>
          </a:solidFill>
          <a:ln w="12700">
            <a:solidFill>
              <a:srgbClr val="B0C4D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280160"/>
            <a:ext cx="73152" cy="91440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35331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65A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TrueNorth (2014)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080" y="1627632"/>
            <a:ext cx="356616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IBM, 28nm, 100万神经元</a:t>
            </a:r>
            <a:endParaRPr lang="en-US" sz="9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72mW, 每突触事件26pJ</a:t>
            </a:r>
            <a:endParaRPr lang="en-US" sz="9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能耗低176,000倍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57200" y="2331720"/>
            <a:ext cx="3931920" cy="914400"/>
          </a:xfrm>
          <a:prstGeom prst="rect">
            <a:avLst/>
          </a:prstGeom>
          <a:solidFill>
            <a:srgbClr val="F0F7FA"/>
          </a:solidFill>
          <a:ln w="12700">
            <a:solidFill>
              <a:srgbClr val="B0C4D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" y="2331720"/>
            <a:ext cx="73152" cy="91440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240487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65A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Loihi (2018/2021)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0080" y="2679192"/>
            <a:ext cx="356616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Intel, 14nm→Intel 4</a:t>
            </a:r>
            <a:endParaRPr lang="en-US" sz="9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128核心→100万神经元</a:t>
            </a:r>
            <a:endParaRPr lang="en-US" sz="9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首个片上学习类脑芯片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57200" y="3383280"/>
            <a:ext cx="3931920" cy="914400"/>
          </a:xfrm>
          <a:prstGeom prst="rect">
            <a:avLst/>
          </a:prstGeom>
          <a:solidFill>
            <a:srgbClr val="F0F7FA"/>
          </a:solidFill>
          <a:ln w="12700">
            <a:solidFill>
              <a:srgbClr val="B0C4D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7200" y="3383280"/>
            <a:ext cx="73152" cy="91440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4564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65A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Hala Point (2024)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0080" y="3730752"/>
            <a:ext cx="356616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Intel+桑迪亚国家实验室</a:t>
            </a:r>
            <a:endParaRPr lang="en-US" sz="9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11.5亿神经元</a:t>
            </a:r>
            <a:endParaRPr lang="en-US" sz="9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全球最大神经形态系统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846320" y="96012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国内进展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846320" y="1280160"/>
            <a:ext cx="3931920" cy="914400"/>
          </a:xfrm>
          <a:prstGeom prst="rect">
            <a:avLst/>
          </a:prstGeom>
          <a:solidFill>
            <a:srgbClr val="F0F7FA"/>
          </a:solidFill>
          <a:ln w="12700">
            <a:solidFill>
              <a:srgbClr val="B0C4D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846320" y="1280160"/>
            <a:ext cx="73152" cy="91440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21" name="Text 19"/>
          <p:cNvSpPr/>
          <p:nvPr/>
        </p:nvSpPr>
        <p:spPr>
          <a:xfrm>
            <a:off x="5029200" y="135331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65A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天机芯 Tianjic (2019)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029200" y="1627632"/>
            <a:ext cx="356616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清华大学施路平团队</a:t>
            </a:r>
            <a:endParaRPr lang="en-US" sz="9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Nature封面论文</a:t>
            </a:r>
            <a:endParaRPr lang="en-US" sz="9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世界首款SNN+ANN融合芯片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846320" y="2331720"/>
            <a:ext cx="3931920" cy="914400"/>
          </a:xfrm>
          <a:prstGeom prst="rect">
            <a:avLst/>
          </a:prstGeom>
          <a:solidFill>
            <a:srgbClr val="F0F7FA"/>
          </a:solidFill>
          <a:ln w="12700">
            <a:solidFill>
              <a:srgbClr val="B0C4D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846320" y="2331720"/>
            <a:ext cx="73152" cy="91440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25" name="Text 23"/>
          <p:cNvSpPr/>
          <p:nvPr/>
        </p:nvSpPr>
        <p:spPr>
          <a:xfrm>
            <a:off x="5029200" y="240487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65A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天眸芯 (2024)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029200" y="2679192"/>
            <a:ext cx="356616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清华大学</a:t>
            </a:r>
            <a:endParaRPr lang="en-US" sz="9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Nature封面论文</a:t>
            </a:r>
            <a:endParaRPr lang="en-US" sz="9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类脑互补视觉感知芯片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846320" y="3383280"/>
            <a:ext cx="3931920" cy="914400"/>
          </a:xfrm>
          <a:prstGeom prst="rect">
            <a:avLst/>
          </a:prstGeom>
          <a:solidFill>
            <a:srgbClr val="F0F7FA"/>
          </a:solidFill>
          <a:ln w="12700">
            <a:solidFill>
              <a:srgbClr val="B0C4D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846320" y="3383280"/>
            <a:ext cx="73152" cy="91440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29" name="Text 27"/>
          <p:cNvSpPr/>
          <p:nvPr/>
        </p:nvSpPr>
        <p:spPr>
          <a:xfrm>
            <a:off x="5029200" y="34564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65A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产业化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5029200" y="3730752"/>
            <a:ext cx="356616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灵汐科技推动天机芯</a:t>
            </a:r>
            <a:endParaRPr lang="en-US" sz="9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从基础研究走向商业化</a:t>
            </a:r>
            <a:endParaRPr lang="en-US" sz="9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2024世界互联网大会领先科技奖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三、存在的问题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53035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B0D0E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Gaps in Current Research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325880"/>
          </a:xfrm>
          <a:prstGeom prst="rect">
            <a:avLst/>
          </a:prstGeom>
          <a:solidFill>
            <a:srgbClr val="F0F7FA"/>
          </a:solidFill>
          <a:ln w="12700">
            <a:solidFill>
              <a:srgbClr val="B0C4D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298448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1887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065A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硬件对比研究少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1691640"/>
            <a:ext cx="356616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现有研究多聚焦SNN软件算法或ANN硬件加速，两者在硬件电路层面的定量对比研究较少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63440" y="1188720"/>
            <a:ext cx="3931920" cy="1325880"/>
          </a:xfrm>
          <a:prstGeom prst="rect">
            <a:avLst/>
          </a:prstGeom>
          <a:solidFill>
            <a:srgbClr val="F0F7FA"/>
          </a:solidFill>
          <a:ln w="12700">
            <a:solidFill>
              <a:srgbClr val="B0C4D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00600" y="1298448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539496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065A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量化关系缺失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846320" y="1691640"/>
            <a:ext cx="356616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"SNN更省电"是定性结论，"省多少电、换多少准确率"的量化关系缺乏实验数据支撑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2697480"/>
            <a:ext cx="3931920" cy="1325880"/>
          </a:xfrm>
          <a:prstGeom prst="rect">
            <a:avLst/>
          </a:prstGeom>
          <a:solidFill>
            <a:srgbClr val="F0F7FA"/>
          </a:solidFill>
          <a:ln w="12700">
            <a:solidFill>
              <a:srgbClr val="B0C4D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4360" y="2807208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188720" y="280720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065A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转换精度损失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" y="3200400"/>
            <a:ext cx="356616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ANN-to-SNN转换存在精度损失，不同归一化方法和参数选择对准确率影响显著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663440" y="2697480"/>
            <a:ext cx="3931920" cy="1325880"/>
          </a:xfrm>
          <a:prstGeom prst="rect">
            <a:avLst/>
          </a:prstGeom>
          <a:solidFill>
            <a:srgbClr val="F0F7FA"/>
          </a:solidFill>
          <a:ln w="12700">
            <a:solidFill>
              <a:srgbClr val="B0C4D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00600" y="2807208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394960" y="280720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065A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硬件生态不成熟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846320" y="3200400"/>
            <a:ext cx="356616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SNN硬件缺乏标准化设计工具链和公开的电路级功耗基准数据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四、研究内容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53035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B0D0E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Research Content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8229600" cy="621792"/>
          </a:xfrm>
          <a:prstGeom prst="rect">
            <a:avLst/>
          </a:prstGeom>
          <a:solidFill>
            <a:srgbClr val="F0F7FA"/>
          </a:solidFill>
          <a:ln w="6350">
            <a:solidFill>
              <a:srgbClr val="B0C4D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1207008"/>
            <a:ext cx="402336" cy="402336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20700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43000" y="1143000"/>
            <a:ext cx="2011680" cy="53035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65A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ANN-MLP基线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200400" y="1143000"/>
            <a:ext cx="5303520" cy="53035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软件：numpy手写MLP(784-300-10, ReLU)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硬件：4×4阵列乘法器+4位CLA加法器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1810512"/>
            <a:ext cx="8229600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B0C4D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94360" y="1920240"/>
            <a:ext cx="402336" cy="402336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2" name="Text 10"/>
          <p:cNvSpPr/>
          <p:nvPr/>
        </p:nvSpPr>
        <p:spPr>
          <a:xfrm>
            <a:off x="594360" y="1920240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143000" y="1856232"/>
            <a:ext cx="2011680" cy="53035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65A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ANN-to-SNN转换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200400" y="1856232"/>
            <a:ext cx="5303520" cy="53035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权重复用+ReLU→IF替换+泊松编码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时间步仿真，MNIST准确率≥85%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523744"/>
            <a:ext cx="8229600" cy="621792"/>
          </a:xfrm>
          <a:prstGeom prst="rect">
            <a:avLst/>
          </a:prstGeom>
          <a:solidFill>
            <a:srgbClr val="F0F7FA"/>
          </a:solidFill>
          <a:ln w="6350">
            <a:solidFill>
              <a:srgbClr val="B0C4D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94360" y="2633472"/>
            <a:ext cx="402336" cy="402336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7" name="Text 15"/>
          <p:cNvSpPr/>
          <p:nvPr/>
        </p:nvSpPr>
        <p:spPr>
          <a:xfrm>
            <a:off x="594360" y="2633472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143000" y="2569464"/>
            <a:ext cx="2011680" cy="53035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65A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SNN-IF神经元电路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200400" y="2569464"/>
            <a:ext cx="5303520" cy="53035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第一阶段：积分器(加法器+寄存器)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第二阶段：IF神经元(+比较器+复位)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7200" y="3236976"/>
            <a:ext cx="8229600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B0C4D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4360" y="3346704"/>
            <a:ext cx="402336" cy="402336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2" name="Text 20"/>
          <p:cNvSpPr/>
          <p:nvPr/>
        </p:nvSpPr>
        <p:spPr>
          <a:xfrm>
            <a:off x="594360" y="3346704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143000" y="3282696"/>
            <a:ext cx="2011680" cy="53035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65A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对比分析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200400" y="3282696"/>
            <a:ext cx="5303520" cy="53035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晶体管数/延迟/功耗三维对比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验证"无需乘法器""事件驱动"优势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57200" y="3950208"/>
            <a:ext cx="8229600" cy="621792"/>
          </a:xfrm>
          <a:prstGeom prst="rect">
            <a:avLst/>
          </a:prstGeom>
          <a:solidFill>
            <a:srgbClr val="F0F7FA"/>
          </a:solidFill>
          <a:ln w="6350">
            <a:solidFill>
              <a:srgbClr val="B0C4D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4059936"/>
            <a:ext cx="402336" cy="402336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7" name="Text 25"/>
          <p:cNvSpPr/>
          <p:nvPr/>
        </p:nvSpPr>
        <p:spPr>
          <a:xfrm>
            <a:off x="594360" y="4059936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5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1143000" y="3995928"/>
            <a:ext cx="2011680" cy="53035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65A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Trade-off拟合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3200400" y="3995928"/>
            <a:ext cx="5303520" cy="53035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改变(T, Vth)获取多组数据点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拟合准确率-功耗定量关系曲线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五、技术路线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53035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B0D0E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Technical Roadmap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02920" y="1554480"/>
            <a:ext cx="1417320" cy="201168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783080"/>
            <a:ext cx="141732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Step 1</a:t>
            </a:r>
            <a:endParaRPr lang="en-US" sz="13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ANN基线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2606040"/>
            <a:ext cx="1143000" cy="18288"/>
          </a:xfrm>
          <a:prstGeom prst="rect">
            <a:avLst/>
          </a:prstGeom>
          <a:solidFill>
            <a:srgbClr val="FFFFFF">
              <a:alpha val="50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697480"/>
            <a:ext cx="141732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MLP训练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MAC电路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rot="5400000">
            <a:off x="1947672" y="2468880"/>
            <a:ext cx="182880" cy="182880"/>
          </a:xfrm>
          <a:prstGeom prst="rtTriangle">
            <a:avLst/>
          </a:prstGeom>
          <a:solidFill>
            <a:srgbClr val="6C757D"/>
          </a:solidFill>
          <a:ln/>
        </p:spPr>
      </p:sp>
      <p:sp>
        <p:nvSpPr>
          <p:cNvPr id="10" name="Shape 8"/>
          <p:cNvSpPr/>
          <p:nvPr/>
        </p:nvSpPr>
        <p:spPr>
          <a:xfrm>
            <a:off x="2148840" y="1554480"/>
            <a:ext cx="1417320" cy="201168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148840" y="1783080"/>
            <a:ext cx="141732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Step 2</a:t>
            </a:r>
            <a:endParaRPr lang="en-US" sz="13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SNN转换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286000" y="2606040"/>
            <a:ext cx="1143000" cy="18288"/>
          </a:xfrm>
          <a:prstGeom prst="rect">
            <a:avLst/>
          </a:prstGeom>
          <a:solidFill>
            <a:srgbClr val="FFFFFF">
              <a:alpha val="50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2148840" y="2697480"/>
            <a:ext cx="141732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ANN→SNN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泊松编码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 rot="5400000">
            <a:off x="3593592" y="2468880"/>
            <a:ext cx="182880" cy="182880"/>
          </a:xfrm>
          <a:prstGeom prst="rtTriangle">
            <a:avLst/>
          </a:prstGeom>
          <a:solidFill>
            <a:srgbClr val="6C757D"/>
          </a:solidFill>
          <a:ln/>
        </p:spPr>
      </p:sp>
      <p:sp>
        <p:nvSpPr>
          <p:cNvPr id="15" name="Shape 13"/>
          <p:cNvSpPr/>
          <p:nvPr/>
        </p:nvSpPr>
        <p:spPr>
          <a:xfrm>
            <a:off x="3794760" y="1554480"/>
            <a:ext cx="1417320" cy="201168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794760" y="1783080"/>
            <a:ext cx="141732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Step 3</a:t>
            </a:r>
            <a:endParaRPr lang="en-US" sz="13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IF电路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3931920" y="2606040"/>
            <a:ext cx="1143000" cy="18288"/>
          </a:xfrm>
          <a:prstGeom prst="rect">
            <a:avLst/>
          </a:prstGeom>
          <a:solidFill>
            <a:srgbClr val="FFFFFF">
              <a:alpha val="50000"/>
            </a:srgbClr>
          </a:solidFill>
          <a:ln/>
        </p:spPr>
      </p:sp>
      <p:sp>
        <p:nvSpPr>
          <p:cNvPr id="18" name="Text 16"/>
          <p:cNvSpPr/>
          <p:nvPr/>
        </p:nvSpPr>
        <p:spPr>
          <a:xfrm>
            <a:off x="3794760" y="2697480"/>
            <a:ext cx="141732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积分器→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IF神经元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 rot="5400000">
            <a:off x="5239512" y="2468880"/>
            <a:ext cx="182880" cy="182880"/>
          </a:xfrm>
          <a:prstGeom prst="rtTriangle">
            <a:avLst/>
          </a:prstGeom>
          <a:solidFill>
            <a:srgbClr val="6C757D"/>
          </a:solidFill>
          <a:ln/>
        </p:spPr>
      </p:sp>
      <p:sp>
        <p:nvSpPr>
          <p:cNvPr id="20" name="Shape 18"/>
          <p:cNvSpPr/>
          <p:nvPr/>
        </p:nvSpPr>
        <p:spPr>
          <a:xfrm>
            <a:off x="5440680" y="1554480"/>
            <a:ext cx="1417320" cy="201168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40680" y="1783080"/>
            <a:ext cx="141732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Step 4</a:t>
            </a:r>
            <a:endParaRPr lang="en-US" sz="13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对比分析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577840" y="2606040"/>
            <a:ext cx="1143000" cy="18288"/>
          </a:xfrm>
          <a:prstGeom prst="rect">
            <a:avLst/>
          </a:prstGeom>
          <a:solidFill>
            <a:srgbClr val="FFFFFF">
              <a:alpha val="50000"/>
            </a:srgbClr>
          </a:solidFill>
          <a:ln/>
        </p:spPr>
      </p:sp>
      <p:sp>
        <p:nvSpPr>
          <p:cNvPr id="23" name="Text 21"/>
          <p:cNvSpPr/>
          <p:nvPr/>
        </p:nvSpPr>
        <p:spPr>
          <a:xfrm>
            <a:off x="5440680" y="2697480"/>
            <a:ext cx="141732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MAC vs IF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硬件指标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 rot="5400000">
            <a:off x="6885432" y="2468880"/>
            <a:ext cx="182880" cy="182880"/>
          </a:xfrm>
          <a:prstGeom prst="rtTriangle">
            <a:avLst/>
          </a:prstGeom>
          <a:solidFill>
            <a:srgbClr val="6C757D"/>
          </a:solidFill>
          <a:ln/>
        </p:spPr>
      </p:sp>
      <p:sp>
        <p:nvSpPr>
          <p:cNvPr id="25" name="Shape 23"/>
          <p:cNvSpPr/>
          <p:nvPr/>
        </p:nvSpPr>
        <p:spPr>
          <a:xfrm>
            <a:off x="7086600" y="1554480"/>
            <a:ext cx="1417320" cy="201168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086600" y="1783080"/>
            <a:ext cx="141732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Step 5</a:t>
            </a:r>
            <a:endParaRPr lang="en-US" sz="13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Trade-off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7223760" y="2606040"/>
            <a:ext cx="1143000" cy="18288"/>
          </a:xfrm>
          <a:prstGeom prst="rect">
            <a:avLst/>
          </a:prstGeom>
          <a:solidFill>
            <a:srgbClr val="FFFFFF">
              <a:alpha val="50000"/>
            </a:srgbClr>
          </a:solidFill>
          <a:ln/>
        </p:spPr>
      </p:sp>
      <p:sp>
        <p:nvSpPr>
          <p:cNvPr id="28" name="Text 26"/>
          <p:cNvSpPr/>
          <p:nvPr/>
        </p:nvSpPr>
        <p:spPr>
          <a:xfrm>
            <a:off x="7086600" y="2697480"/>
            <a:ext cx="141732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准确率-功耗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曲线拟合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02920" y="109728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软件层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3474720" y="109728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硬件层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675120" y="109728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分析层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57200" y="3886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C75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核心逻辑：Step 1-3并行推进（软件+硬件），Step 4依赖硬件结果，Step 5整合软件准确率与硬件功耗数据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背景知识：ANN-MAC vs SNN-IF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53035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B0D0E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Background: Two Computing Paradigms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3931920" cy="3200400"/>
          </a:xfrm>
          <a:prstGeom prst="rect">
            <a:avLst/>
          </a:prstGeom>
          <a:solidFill>
            <a:srgbClr val="F0F7FA"/>
          </a:solidFill>
          <a:ln w="12700">
            <a:solidFill>
              <a:srgbClr val="B0C4D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18872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ANN-MAC 乘加单元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164592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信息表示：连续数值 (float32)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40080" y="201168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核心运算：乘法+加法 (MAC)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237744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计算模式：持续计算（所有神经元都运算）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40080" y="274320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需要乘法器：是（4×4阵列乘法器）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310896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事件驱动：否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40080" y="347472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功耗特性：始终高功耗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54880" y="1097280"/>
            <a:ext cx="3931920" cy="3200400"/>
          </a:xfrm>
          <a:prstGeom prst="rect">
            <a:avLst/>
          </a:prstGeom>
          <a:solidFill>
            <a:srgbClr val="E8F8F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54880" y="118872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SNN-IF 脉冲神经元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37760" y="164592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信息表示：离散脉冲 (0/1 spike)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937760" y="201168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核心运算：脉冲累加+阈值触发（无需乘法）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937760" y="237744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计算模式：事件驱动（仅脉冲触发时运算）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937760" y="274320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需要乘法器：否（MUX代替，省~75%晶体管）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937760" y="310896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事件驱动：是（脉冲稀疏→低功耗）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937760" y="347472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功耗特性：脉冲稀疏→低功耗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57200" y="44348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C75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IF模型：V[t+1] = V[t] + I[t]；当 V ≥ 阈值 → 发放脉冲，V 复位（Lapicque, 1907）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六、预期成果和创新点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53035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B0D0E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Expected Outcomes &amp; Innovations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96012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预期成果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280160"/>
            <a:ext cx="3931920" cy="658368"/>
          </a:xfrm>
          <a:prstGeom prst="rect">
            <a:avLst/>
          </a:prstGeom>
          <a:solidFill>
            <a:srgbClr val="F0F7FA"/>
          </a:solidFill>
          <a:ln w="6350">
            <a:solidFill>
              <a:srgbClr val="B0C4D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325880"/>
            <a:ext cx="73152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65A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软件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371600" y="1325880"/>
            <a:ext cx="292608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ANN训练代码+SNN转换代码</a:t>
            </a:r>
            <a:endParaRPr lang="en-US" sz="9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MNIST准确率数据+脉冲稀疏性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57200" y="2057400"/>
            <a:ext cx="3931920" cy="658368"/>
          </a:xfrm>
          <a:prstGeom prst="rect">
            <a:avLst/>
          </a:prstGeom>
          <a:solidFill>
            <a:srgbClr val="F0F7FA"/>
          </a:solidFill>
          <a:ln w="6350">
            <a:solidFill>
              <a:srgbClr val="B0C4D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4360" y="2103120"/>
            <a:ext cx="73152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65A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硬件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371600" y="2103120"/>
            <a:ext cx="292608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ANN-MAC电路+SNN-IF电路</a:t>
            </a:r>
            <a:endParaRPr lang="en-US" sz="9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Cadence原理图+仿真波形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57200" y="2834640"/>
            <a:ext cx="3931920" cy="658368"/>
          </a:xfrm>
          <a:prstGeom prst="rect">
            <a:avLst/>
          </a:prstGeom>
          <a:solidFill>
            <a:srgbClr val="F0F7FA"/>
          </a:solidFill>
          <a:ln w="6350">
            <a:solidFill>
              <a:srgbClr val="B0C4D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4360" y="2880360"/>
            <a:ext cx="73152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65A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分析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371600" y="2880360"/>
            <a:ext cx="292608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硬件开销对比表</a:t>
            </a:r>
            <a:endParaRPr lang="en-US" sz="9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准确率-功耗trade-off曲线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57200" y="3611880"/>
            <a:ext cx="3931920" cy="658368"/>
          </a:xfrm>
          <a:prstGeom prst="rect">
            <a:avLst/>
          </a:prstGeom>
          <a:solidFill>
            <a:srgbClr val="F0F7FA"/>
          </a:solidFill>
          <a:ln w="6350">
            <a:solidFill>
              <a:srgbClr val="B0C4D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" y="3657600"/>
            <a:ext cx="73152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65A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文档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371600" y="3657600"/>
            <a:ext cx="292608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开题报告+结题报告</a:t>
            </a:r>
            <a:endParaRPr lang="en-US" sz="9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答辩PPT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846320" y="96012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C72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创新点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846320" y="1280160"/>
            <a:ext cx="3931920" cy="658368"/>
          </a:xfrm>
          <a:prstGeom prst="rect">
            <a:avLst/>
          </a:prstGeom>
          <a:solidFill>
            <a:srgbClr val="E8F8F8"/>
          </a:solidFill>
          <a:ln w="6350">
            <a:solidFill>
              <a:srgbClr val="00B4D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983480" y="1426464"/>
            <a:ext cx="365760" cy="365760"/>
          </a:xfrm>
          <a:prstGeom prst="ellipse">
            <a:avLst/>
          </a:prstGeom>
          <a:solidFill>
            <a:srgbClr val="00B4D8"/>
          </a:solidFill>
          <a:ln/>
        </p:spPr>
      </p:sp>
      <p:sp>
        <p:nvSpPr>
          <p:cNvPr id="21" name="Text 19"/>
          <p:cNvSpPr/>
          <p:nvPr/>
        </p:nvSpPr>
        <p:spPr>
          <a:xfrm>
            <a:off x="4983480" y="1426464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486400" y="1325880"/>
            <a:ext cx="320040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首次在本课题组实现IF脉冲神经元数字电路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846320" y="2057400"/>
            <a:ext cx="3931920" cy="658368"/>
          </a:xfrm>
          <a:prstGeom prst="rect">
            <a:avLst/>
          </a:prstGeom>
          <a:solidFill>
            <a:srgbClr val="E8F8F8"/>
          </a:solidFill>
          <a:ln w="6350">
            <a:solidFill>
              <a:srgbClr val="00B4D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983480" y="2203704"/>
            <a:ext cx="365760" cy="365760"/>
          </a:xfrm>
          <a:prstGeom prst="ellipse">
            <a:avLst/>
          </a:prstGeom>
          <a:solidFill>
            <a:srgbClr val="00B4D8"/>
          </a:solidFill>
          <a:ln/>
        </p:spPr>
      </p:sp>
      <p:sp>
        <p:nvSpPr>
          <p:cNvPr id="25" name="Text 23"/>
          <p:cNvSpPr/>
          <p:nvPr/>
        </p:nvSpPr>
        <p:spPr>
          <a:xfrm>
            <a:off x="4983480" y="2203704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486400" y="2103120"/>
            <a:ext cx="320040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ANN-MAC vs SNN-IF硬件开销量化对比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846320" y="2834640"/>
            <a:ext cx="3931920" cy="658368"/>
          </a:xfrm>
          <a:prstGeom prst="rect">
            <a:avLst/>
          </a:prstGeom>
          <a:solidFill>
            <a:srgbClr val="E8F8F8"/>
          </a:solidFill>
          <a:ln w="6350">
            <a:solidFill>
              <a:srgbClr val="00B4D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83480" y="2980944"/>
            <a:ext cx="365760" cy="365760"/>
          </a:xfrm>
          <a:prstGeom prst="ellipse">
            <a:avLst/>
          </a:prstGeom>
          <a:solidFill>
            <a:srgbClr val="00B4D8"/>
          </a:solidFill>
          <a:ln/>
        </p:spPr>
      </p:sp>
      <p:sp>
        <p:nvSpPr>
          <p:cNvPr id="29" name="Text 27"/>
          <p:cNvSpPr/>
          <p:nvPr/>
        </p:nvSpPr>
        <p:spPr>
          <a:xfrm>
            <a:off x="4983480" y="2980944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486400" y="2880360"/>
            <a:ext cx="320040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准确率-功耗定量trade-off曲线（核心贡献）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846320" y="3611880"/>
            <a:ext cx="3931920" cy="658368"/>
          </a:xfrm>
          <a:prstGeom prst="rect">
            <a:avLst/>
          </a:prstGeom>
          <a:solidFill>
            <a:srgbClr val="E8F8F8"/>
          </a:solidFill>
          <a:ln w="6350">
            <a:solidFill>
              <a:srgbClr val="00B4D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983480" y="3758184"/>
            <a:ext cx="365760" cy="365760"/>
          </a:xfrm>
          <a:prstGeom prst="ellipse">
            <a:avLst/>
          </a:prstGeom>
          <a:solidFill>
            <a:srgbClr val="00B4D8"/>
          </a:solidFill>
          <a:ln/>
        </p:spPr>
      </p:sp>
      <p:sp>
        <p:nvSpPr>
          <p:cNvPr id="33" name="Text 31"/>
          <p:cNvSpPr/>
          <p:nvPr/>
        </p:nvSpPr>
        <p:spPr>
          <a:xfrm>
            <a:off x="4983480" y="3758184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486400" y="3657600"/>
            <a:ext cx="320040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IF电路两阶段递进实现，降低技术风险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七、研究进度安排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53035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B0D0E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Research Schedule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325880" y="1371600"/>
            <a:ext cx="36576" cy="3017520"/>
          </a:xfrm>
          <a:prstGeom prst="rect">
            <a:avLst/>
          </a:prstGeom>
          <a:solidFill>
            <a:srgbClr val="B0C4D8"/>
          </a:solidFill>
          <a:ln/>
        </p:spPr>
      </p:sp>
      <p:sp>
        <p:nvSpPr>
          <p:cNvPr id="6" name="Shape 4"/>
          <p:cNvSpPr/>
          <p:nvPr/>
        </p:nvSpPr>
        <p:spPr>
          <a:xfrm>
            <a:off x="1234440" y="1417320"/>
            <a:ext cx="219456" cy="219456"/>
          </a:xfrm>
          <a:prstGeom prst="ellipse">
            <a:avLst/>
          </a:prstGeom>
          <a:solidFill>
            <a:srgbClr val="00B4D8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1280160"/>
            <a:ext cx="91440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65A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第一阶段</a:t>
            </a:r>
            <a:endParaRPr lang="en-US" sz="900" dirty="0"/>
          </a:p>
          <a:p>
            <a:pPr algn="r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65A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2026年7月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645920" y="1280160"/>
            <a:ext cx="3657600" cy="530352"/>
          </a:xfrm>
          <a:prstGeom prst="rect">
            <a:avLst/>
          </a:prstGeom>
          <a:solidFill>
            <a:srgbClr val="F0F7FA"/>
          </a:solidFill>
          <a:ln w="6350">
            <a:solidFill>
              <a:srgbClr val="B0C4D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737360" y="1298448"/>
            <a:ext cx="3474720" cy="49377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ANN-MLP基线训练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ANN-MAC电路搭建与仿真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486400" y="1280160"/>
            <a:ext cx="3291840" cy="53035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6C75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MLP模型+权重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6C75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MAC原理图+仿真波形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1234440" y="2075688"/>
            <a:ext cx="219456" cy="219456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2" name="Text 10"/>
          <p:cNvSpPr/>
          <p:nvPr/>
        </p:nvSpPr>
        <p:spPr>
          <a:xfrm>
            <a:off x="274320" y="1938528"/>
            <a:ext cx="91440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65A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第二阶段</a:t>
            </a:r>
            <a:endParaRPr lang="en-US" sz="900" dirty="0"/>
          </a:p>
          <a:p>
            <a:pPr algn="r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65A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2026年8月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1645920" y="1938528"/>
            <a:ext cx="3657600" cy="530352"/>
          </a:xfrm>
          <a:prstGeom prst="rect">
            <a:avLst/>
          </a:prstGeom>
          <a:solidFill>
            <a:srgbClr val="F0F7FA"/>
          </a:solidFill>
          <a:ln w="6350">
            <a:solidFill>
              <a:srgbClr val="B0C4D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737360" y="1956816"/>
            <a:ext cx="3474720" cy="49377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ANN-to-SNN转换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SNN软件仿真与验证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5486400" y="1938528"/>
            <a:ext cx="3291840" cy="53035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6C75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SNN代码+准确率数据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6C75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脉冲稀疏性统计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1234440" y="2734056"/>
            <a:ext cx="219456" cy="219456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7" name="Text 15"/>
          <p:cNvSpPr/>
          <p:nvPr/>
        </p:nvSpPr>
        <p:spPr>
          <a:xfrm>
            <a:off x="274320" y="2596896"/>
            <a:ext cx="91440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65A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第三阶段</a:t>
            </a:r>
            <a:endParaRPr lang="en-US" sz="900" dirty="0"/>
          </a:p>
          <a:p>
            <a:pPr algn="r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65A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2026年9月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645920" y="2596896"/>
            <a:ext cx="3657600" cy="530352"/>
          </a:xfrm>
          <a:prstGeom prst="rect">
            <a:avLst/>
          </a:prstGeom>
          <a:solidFill>
            <a:srgbClr val="F0F7FA"/>
          </a:solidFill>
          <a:ln w="6350">
            <a:solidFill>
              <a:srgbClr val="B0C4D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737360" y="2615184"/>
            <a:ext cx="3474720" cy="49377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积分器电路搭建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IF神经元电路搭建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486400" y="2596896"/>
            <a:ext cx="3291840" cy="53035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6C75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积分器+IF原理图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6C75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仿真波形+硬件指标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1234440" y="3392424"/>
            <a:ext cx="219456" cy="219456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2" name="Text 20"/>
          <p:cNvSpPr/>
          <p:nvPr/>
        </p:nvSpPr>
        <p:spPr>
          <a:xfrm>
            <a:off x="274320" y="3255264"/>
            <a:ext cx="91440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65A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第四阶段</a:t>
            </a:r>
            <a:endParaRPr lang="en-US" sz="900" dirty="0"/>
          </a:p>
          <a:p>
            <a:pPr algn="r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65A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2026年10月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1645920" y="3255264"/>
            <a:ext cx="3657600" cy="530352"/>
          </a:xfrm>
          <a:prstGeom prst="rect">
            <a:avLst/>
          </a:prstGeom>
          <a:solidFill>
            <a:srgbClr val="F0F7FA"/>
          </a:solidFill>
          <a:ln w="6350">
            <a:solidFill>
              <a:srgbClr val="B0C4D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737360" y="3273552"/>
            <a:ext cx="3474720" cy="49377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硬件对比分析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Trade-off曲线拟合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486400" y="3255264"/>
            <a:ext cx="3291840" cy="53035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6C75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对比表+trade-off曲线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6C75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定量结论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1234440" y="4050792"/>
            <a:ext cx="219456" cy="219456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7" name="Text 25"/>
          <p:cNvSpPr/>
          <p:nvPr/>
        </p:nvSpPr>
        <p:spPr>
          <a:xfrm>
            <a:off x="274320" y="3913632"/>
            <a:ext cx="91440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65A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第五阶段</a:t>
            </a:r>
            <a:endParaRPr lang="en-US" sz="900" dirty="0"/>
          </a:p>
          <a:p>
            <a:pPr algn="r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65A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2026年11月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1645920" y="3913632"/>
            <a:ext cx="3657600" cy="530352"/>
          </a:xfrm>
          <a:prstGeom prst="rect">
            <a:avLst/>
          </a:prstGeom>
          <a:solidFill>
            <a:srgbClr val="F0F7FA"/>
          </a:solidFill>
          <a:ln w="6350">
            <a:solidFill>
              <a:srgbClr val="B0C4D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737360" y="3931920"/>
            <a:ext cx="3474720" cy="49377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撰写结题报告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A1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制作答辩PPT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5486400" y="3913632"/>
            <a:ext cx="3291840" cy="53035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6C75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结题报告+答辩PPT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1295C">
              <a:alpha val="6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spc="500" kern="0" dirty="0">
                <a:solidFill>
                  <a:srgbClr val="FFFFFF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感谢聆听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3657600" y="2651760"/>
            <a:ext cx="1828800" cy="27432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2834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B0D0E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敬请各位老师批评指正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41148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80A0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林意哲  |  上海市金陵中学  |  2026年7月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类脑脉冲神经网络与传统人工神经网络的电路实现对比研究 - 开题报告</dc:title>
  <dc:subject>PptxGenJS Presentation</dc:subject>
  <dc:creator>林意哲</dc:creator>
  <cp:lastModifiedBy>林意哲</cp:lastModifiedBy>
  <cp:revision>1</cp:revision>
  <dcterms:created xsi:type="dcterms:W3CDTF">2026-07-18T03:41:00Z</dcterms:created>
  <dcterms:modified xsi:type="dcterms:W3CDTF">2026-07-18T03:41:00Z</dcterms:modified>
</cp:coreProperties>
</file>
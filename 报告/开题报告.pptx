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3" Type="http://schemas.openxmlformats.org/officeDocument/2006/relationships/notesSlide" Target="../notesSlides/notesSlide2.xml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>
              <a:alpha val="6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000" kern="0" spc="300" dirty="0">
                <a:solidFill>
                  <a:srgbClr val="00B4D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开题报告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3000" b="1" kern="0" spc="20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类脑脉冲神经网络与传统人工神经网络的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229600" cy="5486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3000" b="1" kern="0" spc="20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电路实现对比研究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00400" y="2651760"/>
            <a:ext cx="2743200" cy="27432"/>
          </a:xfrm>
          <a:prstGeom prst="rect">
            <a:avLst/>
          </a:prstGeom>
          <a:solidFill>
            <a:srgbClr val="00B4D8"/>
          </a:solidFill>
        </p:spPr>
      </p:sp>
      <p:sp>
        <p:nvSpPr>
          <p:cNvPr id="7" name="Text 5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B0D0E0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Comparative Study on Circuit Implementation of SNN and ANN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林意哲  |  金陵实践点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智能芯片与信息技术实践工作站  |  2026年7月</a:t>
            </a:r>
            <a:endParaRPr lang="en-US" sz="1200" dirty="0"/>
          </a:p>
        </p:txBody>
      </p:sp>
      <p:sp>
        <p:nvSpPr>
          <p:cNvPr id="10" name="Watermark"/>
          <p:cNvSpPr txBox="1"/>
          <p:nvPr/>
        </p:nvSpPr>
        <p:spPr>
          <a:xfrm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91440" bIns="45720" rtlCol="0" anchor="b"/>
          <a:lstStyle/>
          <a:p>
            <a:pPr algn="r"/>
            <a:endParaRPr lang="zh-CN" sz="1600" dirty="0">
              <a:solidFill>
                <a:srgbClr val="808080">
                  <a:alpha val="19999"/>
                </a:srgbClr>
              </a:solidFill>
              <a:latin typeface="Arial" panose="020B0604020202090204"/>
              <a:ea typeface="宋体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目录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1645920" y="1143000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6" name="Text 4"/>
          <p:cNvSpPr/>
          <p:nvPr>
            <p:custDataLst>
              <p:tags r:id="rId2"/>
            </p:custDataLst>
          </p:nvPr>
        </p:nvSpPr>
        <p:spPr>
          <a:xfrm>
            <a:off x="1645920" y="1143000"/>
            <a:ext cx="457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>
            <p:custDataLst>
              <p:tags r:id="rId3"/>
            </p:custDataLst>
          </p:nvPr>
        </p:nvSpPr>
        <p:spPr>
          <a:xfrm>
            <a:off x="2194560" y="1143000"/>
            <a:ext cx="52120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一、课题来源</a:t>
            </a:r>
            <a:endParaRPr lang="en-US" sz="1400" dirty="0"/>
          </a:p>
        </p:txBody>
      </p:sp>
      <p:sp>
        <p:nvSpPr>
          <p:cNvPr id="8" name="Shape 6"/>
          <p:cNvSpPr/>
          <p:nvPr>
            <p:custDataLst>
              <p:tags r:id="rId4"/>
            </p:custDataLst>
          </p:nvPr>
        </p:nvSpPr>
        <p:spPr>
          <a:xfrm>
            <a:off x="1645920" y="1618488"/>
            <a:ext cx="5852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1645920" y="1618488"/>
            <a:ext cx="457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194560" y="1618488"/>
            <a:ext cx="52120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二、课题研究的目的和意义</a:t>
            </a:r>
            <a:endParaRPr lang="en-US" sz="1400" dirty="0"/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1645920" y="2093976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2" name="Text 10"/>
          <p:cNvSpPr/>
          <p:nvPr>
            <p:custDataLst>
              <p:tags r:id="rId8"/>
            </p:custDataLst>
          </p:nvPr>
        </p:nvSpPr>
        <p:spPr>
          <a:xfrm>
            <a:off x="1645920" y="2093976"/>
            <a:ext cx="457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194560" y="2093976"/>
            <a:ext cx="52120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三、国内外研究现状与存在的问题</a:t>
            </a:r>
            <a:endParaRPr lang="en-US" sz="1400" dirty="0"/>
          </a:p>
        </p:txBody>
      </p:sp>
      <p:sp>
        <p:nvSpPr>
          <p:cNvPr id="14" name="Shape 12"/>
          <p:cNvSpPr/>
          <p:nvPr>
            <p:custDataLst>
              <p:tags r:id="rId10"/>
            </p:custDataLst>
          </p:nvPr>
        </p:nvSpPr>
        <p:spPr>
          <a:xfrm>
            <a:off x="1645920" y="2569464"/>
            <a:ext cx="5852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1645920" y="2569464"/>
            <a:ext cx="457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>
            <p:custDataLst>
              <p:tags r:id="rId12"/>
            </p:custDataLst>
          </p:nvPr>
        </p:nvSpPr>
        <p:spPr>
          <a:xfrm>
            <a:off x="2194560" y="2569464"/>
            <a:ext cx="52120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四、研究内容和拟解决的关键问题</a:t>
            </a:r>
            <a:endParaRPr lang="en-US" sz="1400" dirty="0"/>
          </a:p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1645920" y="3044952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1645920" y="3044952"/>
            <a:ext cx="457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2194560" y="3044952"/>
            <a:ext cx="52120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五、研究方法与技术路线</a:t>
            </a:r>
            <a:endParaRPr lang="en-US" sz="1400" dirty="0"/>
          </a:p>
        </p:txBody>
      </p:sp>
      <p:sp>
        <p:nvSpPr>
          <p:cNvPr id="20" name="Shape 18"/>
          <p:cNvSpPr/>
          <p:nvPr>
            <p:custDataLst>
              <p:tags r:id="rId16"/>
            </p:custDataLst>
          </p:nvPr>
        </p:nvSpPr>
        <p:spPr>
          <a:xfrm>
            <a:off x="1645920" y="3520440"/>
            <a:ext cx="5852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1" name="Text 19"/>
          <p:cNvSpPr/>
          <p:nvPr>
            <p:custDataLst>
              <p:tags r:id="rId17"/>
            </p:custDataLst>
          </p:nvPr>
        </p:nvSpPr>
        <p:spPr>
          <a:xfrm>
            <a:off x="1645920" y="3520440"/>
            <a:ext cx="457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20"/>
          <p:cNvSpPr/>
          <p:nvPr>
            <p:custDataLst>
              <p:tags r:id="rId18"/>
            </p:custDataLst>
          </p:nvPr>
        </p:nvSpPr>
        <p:spPr>
          <a:xfrm>
            <a:off x="2194560" y="3520440"/>
            <a:ext cx="52120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六、预期研究成果和创新点</a:t>
            </a:r>
            <a:endParaRPr lang="en-US" sz="1400" dirty="0"/>
          </a:p>
        </p:txBody>
      </p:sp>
      <p:sp>
        <p:nvSpPr>
          <p:cNvPr id="23" name="Shape 21"/>
          <p:cNvSpPr/>
          <p:nvPr>
            <p:custDataLst>
              <p:tags r:id="rId19"/>
            </p:custDataLst>
          </p:nvPr>
        </p:nvSpPr>
        <p:spPr>
          <a:xfrm>
            <a:off x="1645920" y="3995928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1645920" y="3995928"/>
            <a:ext cx="457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7</a:t>
            </a:r>
            <a:endParaRPr lang="en-US" sz="16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2194560" y="3995928"/>
            <a:ext cx="52120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七、研究进度安排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一、课题来源（选题依据）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Origin of the Research Topic</a:t>
            </a:r>
            <a:endParaRPr lang="en-US" sz="1300" dirty="0"/>
          </a:p>
        </p:txBody>
      </p:sp>
      <p:pic>
        <p:nvPicPr>
          <p:cNvPr id="5" name="Image 0" descr="/Users/ethanlin/.trae-cn/work/6a5af1bd2c266e811f3f6f8b/images/image-neuron_4x3.jp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754880" y="1051560"/>
            <a:ext cx="393192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05840"/>
            <a:ext cx="4114800" cy="310896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097280"/>
            <a:ext cx="37490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选题缘起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3749040" cy="260604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在课题组学习中，我先后学习了生物神经元（单元一）、ANN算法（单元二、三）和数字电路MAC单元（单元四至六）。
</a:t>
            </a: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单元一课堂上，老师提到：</a:t>
            </a:r>
            <a:r>
              <a:rPr lang="en-US" sz="10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"SNN比ANN功耗更低，是前沿方向"</a:t>
            </a: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。这句话引发了我的好奇——
</a:t>
            </a:r>
            <a:r>
              <a:rPr lang="en-US" sz="1100" b="1" dirty="0">
                <a:solidFill>
                  <a:srgbClr val="00B4D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SNN到底能省多少电？代价是什么？</a:t>
            </a:r>
            <a:endParaRPr lang="en-US" sz="1000" dirty="0"/>
          </a:p>
          <a:p>
            <a:pPr marL="0" indent="0" algn="l">
              <a:lnSpc>
                <a:spcPct val="110000"/>
              </a:lnSpc>
              <a:buNone/>
            </a:pPr>
            <a:endParaRPr lang="en-US" sz="1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查阅文献发现，"SNN更省电"已有大量研究，但我想通过自建电路亲自验证这个结论。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二、课题研究的目的和意义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Research Objectives &amp; Significance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研究目的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92608" cy="292608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7" name="Text 5"/>
          <p:cNvSpPr/>
          <p:nvPr/>
        </p:nvSpPr>
        <p:spPr>
          <a:xfrm>
            <a:off x="502920" y="1325880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325880"/>
            <a:ext cx="91440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ANN基线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1325880"/>
            <a:ext cx="24688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Python手写MLP(784-300-10)，MNIST准确率≥95%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292608" cy="292608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11" name="Text 9"/>
          <p:cNvSpPr/>
          <p:nvPr/>
        </p:nvSpPr>
        <p:spPr>
          <a:xfrm>
            <a:off x="502920" y="1783080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1783080"/>
            <a:ext cx="91440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SNN转换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783080"/>
            <a:ext cx="24688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ANN-to-SNN转换，验证SNN识别能力，准确率≥85%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240280"/>
            <a:ext cx="292608" cy="292608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15" name="Text 13"/>
          <p:cNvSpPr/>
          <p:nvPr/>
        </p:nvSpPr>
        <p:spPr>
          <a:xfrm>
            <a:off x="502920" y="2240280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240280"/>
            <a:ext cx="91440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硬件电路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240280"/>
            <a:ext cx="24688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Cadence搭建ANN-MAC与SNN-IF电路，提取硬件指标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697480"/>
            <a:ext cx="292608" cy="292608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19" name="Text 17"/>
          <p:cNvSpPr/>
          <p:nvPr/>
        </p:nvSpPr>
        <p:spPr>
          <a:xfrm>
            <a:off x="502920" y="2697480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2697480"/>
            <a:ext cx="91440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对比分析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2697480"/>
            <a:ext cx="24688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量化对比两种计算范式的硬件开销差异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154680"/>
            <a:ext cx="292608" cy="292608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23" name="Text 21"/>
          <p:cNvSpPr/>
          <p:nvPr/>
        </p:nvSpPr>
        <p:spPr>
          <a:xfrm>
            <a:off x="502920" y="3154680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3154680"/>
            <a:ext cx="91440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Trade-off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3154680"/>
            <a:ext cx="24688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拟合准确率-功耗定量关系曲线（最终结论）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005840"/>
            <a:ext cx="18288" cy="3474720"/>
          </a:xfrm>
          <a:prstGeom prst="rect">
            <a:avLst/>
          </a:prstGeom>
          <a:solidFill>
            <a:srgbClr val="B0C4D8"/>
          </a:solidFill>
        </p:spPr>
      </p:sp>
      <p:sp>
        <p:nvSpPr>
          <p:cNvPr id="27" name="Text 25"/>
          <p:cNvSpPr/>
          <p:nvPr/>
        </p:nvSpPr>
        <p:spPr>
          <a:xfrm>
            <a:off x="4937760" y="1005840"/>
            <a:ext cx="3840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研究意义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937760" y="1371600"/>
            <a:ext cx="384048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1371600"/>
            <a:ext cx="73152" cy="914400"/>
          </a:xfrm>
          <a:prstGeom prst="rect">
            <a:avLst/>
          </a:prstGeom>
          <a:solidFill>
            <a:srgbClr val="00B4D8"/>
          </a:solidFill>
        </p:spPr>
      </p:sp>
      <p:sp>
        <p:nvSpPr>
          <p:cNvPr id="30" name="Text 28"/>
          <p:cNvSpPr/>
          <p:nvPr/>
        </p:nvSpPr>
        <p:spPr>
          <a:xfrm>
            <a:off x="5120640" y="1444752"/>
            <a:ext cx="11887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实证验证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20640" y="1719072"/>
            <a:ext cx="347472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通过自建电路实测功耗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验证"SNN更省电"课堂结论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加深对类脑计算的理解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37760" y="2423160"/>
            <a:ext cx="384048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37760" y="2423160"/>
            <a:ext cx="73152" cy="914400"/>
          </a:xfrm>
          <a:prstGeom prst="rect">
            <a:avLst/>
          </a:prstGeom>
          <a:solidFill>
            <a:srgbClr val="00B4D8"/>
          </a:solidFill>
        </p:spPr>
      </p:sp>
      <p:sp>
        <p:nvSpPr>
          <p:cNvPr id="34" name="Text 32"/>
          <p:cNvSpPr/>
          <p:nvPr/>
        </p:nvSpPr>
        <p:spPr>
          <a:xfrm>
            <a:off x="5120640" y="2496312"/>
            <a:ext cx="11887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软硬结合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120640" y="2770632"/>
            <a:ext cx="347472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Python软件仿真+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Cadence硬件设计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跨工具跨领域综合实践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37760" y="3474720"/>
            <a:ext cx="384048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37760" y="3474720"/>
            <a:ext cx="73152" cy="914400"/>
          </a:xfrm>
          <a:prstGeom prst="rect">
            <a:avLst/>
          </a:prstGeom>
          <a:solidFill>
            <a:srgbClr val="00B4D8"/>
          </a:solidFill>
        </p:spPr>
      </p:sp>
      <p:sp>
        <p:nvSpPr>
          <p:cNvPr id="38" name="Text 36"/>
          <p:cNvSpPr/>
          <p:nvPr/>
        </p:nvSpPr>
        <p:spPr>
          <a:xfrm>
            <a:off x="5120640" y="3547872"/>
            <a:ext cx="11887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类脑扣题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120640" y="3822192"/>
            <a:ext cx="347472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SNN是最类脑的计算模型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从硬件层面研究SNN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优势与代价，紧扣主题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三、国内外研究现状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State of the Art at Home and Abroad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国际进展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73152" cy="91440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8" name="Text 6"/>
          <p:cNvSpPr/>
          <p:nvPr/>
        </p:nvSpPr>
        <p:spPr>
          <a:xfrm>
            <a:off x="640080" y="1353312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TrueNorth (2014)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627632"/>
            <a:ext cx="356616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IBM, 28nm, 100万神经元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72mW, 每突触事件26pJ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能耗低176,000倍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31720"/>
            <a:ext cx="73152" cy="91440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12" name="Text 10"/>
          <p:cNvSpPr/>
          <p:nvPr/>
        </p:nvSpPr>
        <p:spPr>
          <a:xfrm>
            <a:off x="640080" y="2404872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Loihi (2018/2021)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679192"/>
            <a:ext cx="356616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Intel, 14nm→Intel 4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128核心→100万神经元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首个片上学习类脑芯片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38328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383280"/>
            <a:ext cx="73152" cy="91440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16" name="Text 14"/>
          <p:cNvSpPr/>
          <p:nvPr/>
        </p:nvSpPr>
        <p:spPr>
          <a:xfrm>
            <a:off x="640080" y="3456432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Hala Point (2024)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730752"/>
            <a:ext cx="356616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Intel+桑迪亚国家实验室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11.5亿神经元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全球最大神经形态系统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国内进展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46320" y="128016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280160"/>
            <a:ext cx="73152" cy="914400"/>
          </a:xfrm>
          <a:prstGeom prst="rect">
            <a:avLst/>
          </a:prstGeom>
          <a:solidFill>
            <a:srgbClr val="00B4D8"/>
          </a:solidFill>
        </p:spPr>
      </p:sp>
      <p:sp>
        <p:nvSpPr>
          <p:cNvPr id="21" name="Text 19"/>
          <p:cNvSpPr/>
          <p:nvPr/>
        </p:nvSpPr>
        <p:spPr>
          <a:xfrm>
            <a:off x="5029200" y="1353312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天机芯 Tianjic (2019)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1627632"/>
            <a:ext cx="356616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清华大学施路平团队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Nature封面论文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世界首款SNN+ANN融合芯片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0" y="233172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2331720"/>
            <a:ext cx="73152" cy="914400"/>
          </a:xfrm>
          <a:prstGeom prst="rect">
            <a:avLst/>
          </a:prstGeom>
          <a:solidFill>
            <a:srgbClr val="00B4D8"/>
          </a:solidFill>
        </p:spPr>
      </p:sp>
      <p:sp>
        <p:nvSpPr>
          <p:cNvPr id="25" name="Text 23"/>
          <p:cNvSpPr/>
          <p:nvPr/>
        </p:nvSpPr>
        <p:spPr>
          <a:xfrm>
            <a:off x="5029200" y="2404872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天眸芯 (2024)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2679192"/>
            <a:ext cx="356616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清华大学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Nature封面论文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类脑互补视觉感知芯片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338328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3383280"/>
            <a:ext cx="73152" cy="914400"/>
          </a:xfrm>
          <a:prstGeom prst="rect">
            <a:avLst/>
          </a:prstGeom>
          <a:solidFill>
            <a:srgbClr val="00B4D8"/>
          </a:solidFill>
        </p:spPr>
      </p:sp>
      <p:sp>
        <p:nvSpPr>
          <p:cNvPr id="29" name="Text 27"/>
          <p:cNvSpPr/>
          <p:nvPr/>
        </p:nvSpPr>
        <p:spPr>
          <a:xfrm>
            <a:off x="5029200" y="3456432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产业化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3730752"/>
            <a:ext cx="356616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灵汐科技推动天机芯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从基础研究走向商业化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2024世界互联网大会领先科技奖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三、现有进展与本课题定位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Existing Progress &amp; Our Positioning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777240"/>
          </a:xfrm>
          <a:prstGeom prst="rect">
            <a:avLst/>
          </a:prstGeom>
          <a:solidFill>
            <a:srgbClr val="E8F8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51560"/>
            <a:ext cx="18288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已有研究进展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7863840" cy="41148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SNN与ANN能效对比已较为充分：Shen(2023)提出Bit Budget框架质疑"SNN天然更省电"；Xu(2024)在SENECA上完成硬件级实测对比；NeuroBench(2025, Nature Comm.)建立标准化基准；snnTorch(2023)等训练框架已成熟。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本课题定位：教学级复现性验证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3931920" cy="11430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54864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377440"/>
            <a:ext cx="30175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工艺窄缝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724912"/>
            <a:ext cx="3566160" cy="64008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现有对比多针对专用芯片（Loihi/SENECA），在SMIC 0.18μm工艺下针对MLP的晶体管级复现案例较少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2286000"/>
            <a:ext cx="3931920" cy="11430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377440"/>
            <a:ext cx="54864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94960" y="2377440"/>
            <a:ext cx="30175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教学级数据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724912"/>
            <a:ext cx="3566160" cy="64008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准确率-能耗关系已有理论框架，但软件准确率与自建电路实测功耗对应的完整教学案例仍稀缺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3931920" cy="11430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57600"/>
            <a:ext cx="54864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57600"/>
            <a:ext cx="30175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应用而非改进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005072"/>
            <a:ext cx="3566160" cy="64008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转换精度损失是经典已解问题，本课题直接应用Rueckauer(2017)标准方法，关注自建电路上的表现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3566160"/>
            <a:ext cx="3931920" cy="11430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657600"/>
            <a:ext cx="54864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94960" y="3657600"/>
            <a:ext cx="30175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教学资源补充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4005072"/>
            <a:ext cx="3566160" cy="64008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NeuroBench面向系统级评测，晶体管级数字电路的完整教学设计案例仍稀缺，本课题可作参考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四、研究内容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Research Content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62179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207008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7" name="Text 5"/>
          <p:cNvSpPr/>
          <p:nvPr/>
        </p:nvSpPr>
        <p:spPr>
          <a:xfrm>
            <a:off x="594360" y="1207008"/>
            <a:ext cx="402336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143000"/>
            <a:ext cx="201168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ANN-MLP基线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143000"/>
            <a:ext cx="530352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软件：numpy手写MLP(784-300-10, ReLU)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硬件：4×4阵列乘法器+4位CLA加法器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10512"/>
            <a:ext cx="82296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920240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12" name="Text 10"/>
          <p:cNvSpPr/>
          <p:nvPr/>
        </p:nvSpPr>
        <p:spPr>
          <a:xfrm>
            <a:off x="594360" y="1920240"/>
            <a:ext cx="402336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1856232"/>
            <a:ext cx="201168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ANN-to-SNN转换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1856232"/>
            <a:ext cx="530352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权重复用+ReLU→IF替换+泊松编码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时间步仿真，MNIST准确率≥85%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8229600" cy="62179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633472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17" name="Text 15"/>
          <p:cNvSpPr/>
          <p:nvPr/>
        </p:nvSpPr>
        <p:spPr>
          <a:xfrm>
            <a:off x="594360" y="2633472"/>
            <a:ext cx="402336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43000" y="2569464"/>
            <a:ext cx="201168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SNN-IF神经元电路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2569464"/>
            <a:ext cx="530352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第一阶段：积分器(加法器+寄存器)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第二阶段：IF神经元(+比较器+复位)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82296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346704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22" name="Text 20"/>
          <p:cNvSpPr/>
          <p:nvPr/>
        </p:nvSpPr>
        <p:spPr>
          <a:xfrm>
            <a:off x="594360" y="3346704"/>
            <a:ext cx="402336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3282696"/>
            <a:ext cx="201168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对比分析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3282696"/>
            <a:ext cx="530352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晶体管数/延迟/功耗三维对比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验证"无需乘法器""事件驱动"优势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50208"/>
            <a:ext cx="8229600" cy="62179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059936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27" name="Text 25"/>
          <p:cNvSpPr/>
          <p:nvPr/>
        </p:nvSpPr>
        <p:spPr>
          <a:xfrm>
            <a:off x="594360" y="4059936"/>
            <a:ext cx="402336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43000" y="3995928"/>
            <a:ext cx="201168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Trade-off拟合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3995928"/>
            <a:ext cx="530352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改变(T, Vth)获取多组数据点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拟合准确率-功耗定量关系曲线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五、技术路线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Roadmap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141732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830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Step 1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ANN基线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502920" y="26974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MLP训练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MAC电路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rot="5400000">
            <a:off x="1947672" y="2468880"/>
            <a:ext cx="182880" cy="182880"/>
          </a:xfrm>
          <a:prstGeom prst="rtTriangle">
            <a:avLst/>
          </a:prstGeom>
          <a:solidFill>
            <a:srgbClr val="6C757D"/>
          </a:solidFill>
        </p:spPr>
      </p:sp>
      <p:sp>
        <p:nvSpPr>
          <p:cNvPr id="10" name="Shape 8"/>
          <p:cNvSpPr/>
          <p:nvPr/>
        </p:nvSpPr>
        <p:spPr>
          <a:xfrm>
            <a:off x="2148840" y="1554480"/>
            <a:ext cx="1417320" cy="2011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17830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Step 2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SNN转换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2148840" y="26974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ANN→SNN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泊松编码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5400000">
            <a:off x="3593592" y="2468880"/>
            <a:ext cx="182880" cy="182880"/>
          </a:xfrm>
          <a:prstGeom prst="rtTriangle">
            <a:avLst/>
          </a:prstGeom>
          <a:solidFill>
            <a:srgbClr val="6C757D"/>
          </a:solidFill>
        </p:spPr>
      </p:sp>
      <p:sp>
        <p:nvSpPr>
          <p:cNvPr id="15" name="Shape 13"/>
          <p:cNvSpPr/>
          <p:nvPr/>
        </p:nvSpPr>
        <p:spPr>
          <a:xfrm>
            <a:off x="3794760" y="1554480"/>
            <a:ext cx="141732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17830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Step 3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IF电路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93192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</p:spPr>
      </p:sp>
      <p:sp>
        <p:nvSpPr>
          <p:cNvPr id="18" name="Text 16"/>
          <p:cNvSpPr/>
          <p:nvPr/>
        </p:nvSpPr>
        <p:spPr>
          <a:xfrm>
            <a:off x="3794760" y="26974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积分器→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IF神经元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rot="5400000">
            <a:off x="5239512" y="2468880"/>
            <a:ext cx="182880" cy="182880"/>
          </a:xfrm>
          <a:prstGeom prst="rtTriangle">
            <a:avLst/>
          </a:prstGeom>
          <a:solidFill>
            <a:srgbClr val="6C757D"/>
          </a:solidFill>
        </p:spPr>
      </p:sp>
      <p:sp>
        <p:nvSpPr>
          <p:cNvPr id="20" name="Shape 18"/>
          <p:cNvSpPr/>
          <p:nvPr/>
        </p:nvSpPr>
        <p:spPr>
          <a:xfrm>
            <a:off x="5440680" y="1554480"/>
            <a:ext cx="1417320" cy="2011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40680" y="17830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Step 4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对比分析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57784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</p:spPr>
      </p:sp>
      <p:sp>
        <p:nvSpPr>
          <p:cNvPr id="23" name="Text 21"/>
          <p:cNvSpPr/>
          <p:nvPr/>
        </p:nvSpPr>
        <p:spPr>
          <a:xfrm>
            <a:off x="5440680" y="26974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MAC vs IF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硬件指标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5400000">
            <a:off x="6885432" y="2468880"/>
            <a:ext cx="182880" cy="182880"/>
          </a:xfrm>
          <a:prstGeom prst="rtTriangle">
            <a:avLst/>
          </a:prstGeom>
          <a:solidFill>
            <a:srgbClr val="6C757D"/>
          </a:solidFill>
        </p:spPr>
      </p:sp>
      <p:sp>
        <p:nvSpPr>
          <p:cNvPr id="25" name="Shape 23"/>
          <p:cNvSpPr/>
          <p:nvPr/>
        </p:nvSpPr>
        <p:spPr>
          <a:xfrm>
            <a:off x="7086600" y="1554480"/>
            <a:ext cx="1417320" cy="2011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17830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Step 5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Trade-off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22376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</p:spPr>
      </p:sp>
      <p:sp>
        <p:nvSpPr>
          <p:cNvPr id="28" name="Text 26"/>
          <p:cNvSpPr/>
          <p:nvPr/>
        </p:nvSpPr>
        <p:spPr>
          <a:xfrm>
            <a:off x="7086600" y="2697480"/>
            <a:ext cx="141732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准确率-功耗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曲线拟合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1097280"/>
            <a:ext cx="30175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软件层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474720" y="1097280"/>
            <a:ext cx="31089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硬件层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1097280"/>
            <a:ext cx="21031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核心逻辑：Step 1-3并行推进（软件+硬件），Step 4依赖硬件结果，Step 5整合软件准确率与硬件功耗数据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背景知识：ANN-MAC vs SNN-IF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Background: Two Computing Paradigms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393192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ANN-MAC 乘加单元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信息表示：连续数值 (float32)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核心运算：乘法+加法 (MAC)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计算模式：持续计算（所有神经元都运算）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需要乘法器：是（4×4阵列乘法器）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事件驱动：否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47472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功耗特性：始终高功耗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E8F8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SNN-IF 脉冲神经元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64592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信息表示：离散脉冲 (0/1 spike)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核心运算：脉冲累加+阈值触发（无需乘法）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37744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计算模式：事件驱动（仅脉冲触发时运算）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37760" y="274320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需要乘法器：否（MUX代替，显著降低硬件资源）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310896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事件驱动：是（脉冲稀疏→低功耗）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3474720"/>
            <a:ext cx="35661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功耗特性：脉冲稀疏→低功耗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IF模型：V[t+1] = V[t] + I[t]；当 V ≥ 阈值 → 发放脉冲，V 复位（Lapicque, 1907）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六、预期成果和创新点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Expected Outcomes &amp; Innovations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预期成果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880"/>
            <a:ext cx="7315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325880"/>
            <a:ext cx="29260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ANN训练代码+SNN转换代码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MNIST准确率数据+脉冲稀疏性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03120"/>
            <a:ext cx="7315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103120"/>
            <a:ext cx="29260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ANN-MAC电路+SNN-IF电路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Cadence原理图+仿真波形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0360"/>
            <a:ext cx="7315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71600" y="2880360"/>
            <a:ext cx="29260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硬件开销对比表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准确率-功耗trade-off曲线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657600"/>
            <a:ext cx="7315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29260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开题报告+结题报告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答辩PPT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实践创新点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417320"/>
            <a:ext cx="3931920" cy="56692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83480" y="1563624"/>
            <a:ext cx="365760" cy="365760"/>
          </a:xfrm>
          <a:prstGeom prst="ellipse">
            <a:avLst/>
          </a:prstGeom>
          <a:solidFill>
            <a:srgbClr val="00B4D8"/>
          </a:solidFill>
        </p:spPr>
      </p:sp>
      <p:sp>
        <p:nvSpPr>
          <p:cNvPr id="22" name="Text 20"/>
          <p:cNvSpPr/>
          <p:nvPr/>
        </p:nvSpPr>
        <p:spPr>
          <a:xfrm>
            <a:off x="4983480" y="1563624"/>
            <a:ext cx="36576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1463040"/>
            <a:ext cx="32004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首次在本课题组实现IF脉冲神经元数字电路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103120"/>
            <a:ext cx="3931920" cy="56692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83480" y="2249424"/>
            <a:ext cx="365760" cy="365760"/>
          </a:xfrm>
          <a:prstGeom prst="ellipse">
            <a:avLst/>
          </a:prstGeom>
          <a:solidFill>
            <a:srgbClr val="00B4D8"/>
          </a:solidFill>
        </p:spPr>
      </p:sp>
      <p:sp>
        <p:nvSpPr>
          <p:cNvPr id="26" name="Text 24"/>
          <p:cNvSpPr/>
          <p:nvPr/>
        </p:nvSpPr>
        <p:spPr>
          <a:xfrm>
            <a:off x="4983480" y="2249424"/>
            <a:ext cx="36576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2148840"/>
            <a:ext cx="32004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SMIC 0.18μm工艺下晶体管级电路对比案例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2788920"/>
            <a:ext cx="3931920" cy="56692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83480" y="2935224"/>
            <a:ext cx="365760" cy="365760"/>
          </a:xfrm>
          <a:prstGeom prst="ellipse">
            <a:avLst/>
          </a:prstGeom>
          <a:solidFill>
            <a:srgbClr val="00B4D8"/>
          </a:solidFill>
        </p:spPr>
      </p:sp>
      <p:sp>
        <p:nvSpPr>
          <p:cNvPr id="30" name="Text 28"/>
          <p:cNvSpPr/>
          <p:nvPr/>
        </p:nvSpPr>
        <p:spPr>
          <a:xfrm>
            <a:off x="4983480" y="2935224"/>
            <a:ext cx="36576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0" y="2834640"/>
            <a:ext cx="32004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自建电路实测功耗拟合准确率-功耗关系（实证验证）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0" y="3474720"/>
            <a:ext cx="3931920" cy="56692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83480" y="3621024"/>
            <a:ext cx="365760" cy="365760"/>
          </a:xfrm>
          <a:prstGeom prst="ellipse">
            <a:avLst/>
          </a:prstGeom>
          <a:solidFill>
            <a:srgbClr val="00B4D8"/>
          </a:solidFill>
        </p:spPr>
      </p:sp>
      <p:sp>
        <p:nvSpPr>
          <p:cNvPr id="34" name="Text 32"/>
          <p:cNvSpPr/>
          <p:nvPr/>
        </p:nvSpPr>
        <p:spPr>
          <a:xfrm>
            <a:off x="4983480" y="3621024"/>
            <a:ext cx="36576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0" y="3520440"/>
            <a:ext cx="32004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IF电路两阶段递进实现，降低技术风险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七、研究进度安排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Research Schedule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25880" y="1371600"/>
            <a:ext cx="36576" cy="3017520"/>
          </a:xfrm>
          <a:prstGeom prst="rect">
            <a:avLst/>
          </a:prstGeom>
          <a:solidFill>
            <a:srgbClr val="B0C4D8"/>
          </a:solidFill>
        </p:spPr>
      </p:sp>
      <p:sp>
        <p:nvSpPr>
          <p:cNvPr id="6" name="Shape 4"/>
          <p:cNvSpPr/>
          <p:nvPr/>
        </p:nvSpPr>
        <p:spPr>
          <a:xfrm>
            <a:off x="1234440" y="1417320"/>
            <a:ext cx="219456" cy="219456"/>
          </a:xfrm>
          <a:prstGeom prst="ellipse">
            <a:avLst/>
          </a:prstGeom>
          <a:solidFill>
            <a:srgbClr val="00B4D8"/>
          </a:solidFill>
        </p:spPr>
      </p:sp>
      <p:sp>
        <p:nvSpPr>
          <p:cNvPr id="7" name="Text 5"/>
          <p:cNvSpPr/>
          <p:nvPr/>
        </p:nvSpPr>
        <p:spPr>
          <a:xfrm>
            <a:off x="274320" y="1280160"/>
            <a:ext cx="9144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第一阶段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280160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1298448"/>
            <a:ext cx="347472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ANN-MLP基线训练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ANN-MAC电路搭建与仿真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0" y="1280160"/>
            <a:ext cx="329184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MLP模型+权重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MAC原理图+仿真波形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4440" y="2075688"/>
            <a:ext cx="219456" cy="219456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12" name="Text 10"/>
          <p:cNvSpPr/>
          <p:nvPr/>
        </p:nvSpPr>
        <p:spPr>
          <a:xfrm>
            <a:off x="274320" y="1938528"/>
            <a:ext cx="9144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第二阶段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0" y="1938528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7360" y="1956816"/>
            <a:ext cx="347472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ANN-to-SNN转换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SNN软件仿真与验证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0" y="1938528"/>
            <a:ext cx="329184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SNN代码+准确率数据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脉冲稀疏性统计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34440" y="2734056"/>
            <a:ext cx="219456" cy="219456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17" name="Text 15"/>
          <p:cNvSpPr/>
          <p:nvPr/>
        </p:nvSpPr>
        <p:spPr>
          <a:xfrm>
            <a:off x="274320" y="2596896"/>
            <a:ext cx="9144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第三阶段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45920" y="2596896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37360" y="2615184"/>
            <a:ext cx="347472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积分器电路搭建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IF神经元电路搭建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0" y="2596896"/>
            <a:ext cx="329184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积分器+IF原理图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仿真波形+硬件指标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234440" y="3392424"/>
            <a:ext cx="219456" cy="219456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22" name="Text 20"/>
          <p:cNvSpPr/>
          <p:nvPr/>
        </p:nvSpPr>
        <p:spPr>
          <a:xfrm>
            <a:off x="274320" y="3255264"/>
            <a:ext cx="9144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第四阶段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645920" y="3255264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37360" y="3273552"/>
            <a:ext cx="347472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硬件对比分析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Trade-off曲线拟合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0" y="3255264"/>
            <a:ext cx="329184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对比表+trade-off曲线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定量结论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234440" y="4050792"/>
            <a:ext cx="219456" cy="219456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27" name="Text 25"/>
          <p:cNvSpPr/>
          <p:nvPr/>
        </p:nvSpPr>
        <p:spPr>
          <a:xfrm>
            <a:off x="274320" y="3913632"/>
            <a:ext cx="914400" cy="5029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第五阶段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645920" y="3913632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37360" y="3931920"/>
            <a:ext cx="347472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撰写结题报告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制作答辩PPT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0" y="3913632"/>
            <a:ext cx="329184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结题报告+答辩PPT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>
              <a:alpha val="60000"/>
            </a:srgbClr>
          </a:solidFill>
        </p:spPr>
        <p:txBody>
          <a:bodyPr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4000" b="1" kern="0" spc="50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感谢聆听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657600" y="2651760"/>
            <a:ext cx="1828800" cy="27432"/>
          </a:xfrm>
          <a:prstGeom prst="rect">
            <a:avLst/>
          </a:prstGeom>
          <a:solidFill>
            <a:srgbClr val="00B4D8"/>
          </a:solidFill>
        </p:spPr>
      </p:sp>
      <p:sp>
        <p:nvSpPr>
          <p:cNvPr id="5" name="Text 3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B0D0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敬请各位老师批评指正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80A0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林意哲  |  2026年7月</a:t>
            </a:r>
            <a:endParaRPr lang="en-US" sz="12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2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3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4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5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6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7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8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9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0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1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2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3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4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5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6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7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8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19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20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ags/tag21.xml><?xml version="1.0" encoding="utf-8"?>
<p:tagLst xmlns:p="http://schemas.openxmlformats.org/presentationml/2006/main">
  <p:tag name="KSO_WM_DIAGRAM_VIRTUALLY_FRAME" val="{&quot;height&quot;:254.88000000000002,&quot;left&quot;:129.6,&quot;top&quot;:90,&quot;width&quot;:460.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2876</Words>
  <Application>WPS 演示</Application>
  <PresentationFormat>On-screen Show (16:9)</PresentationFormat>
  <Paragraphs>396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Songti SC</vt:lpstr>
      <vt:lpstr>Songti SC</vt:lpstr>
      <vt:lpstr>Georgia</vt:lpstr>
      <vt:lpstr>Georgia</vt:lpstr>
      <vt:lpstr>Georgia</vt:lpstr>
      <vt:lpstr>Arial</vt:lpstr>
      <vt:lpstr>宋体</vt:lpstr>
      <vt:lpstr>Calibri</vt:lpstr>
      <vt:lpstr>Helvetica Neue</vt:lpstr>
      <vt:lpstr>宋体</vt:lpstr>
      <vt:lpstr>Arial Unicode MS</vt:lpstr>
      <vt:lpstr>等线</vt:lpstr>
      <vt:lpstr>汉仪中等线KW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类脑脉冲神经网络与传统人工神经网络的电路实现对比研究 - 开题报告</dc:title>
  <dc:creator>林意哲</dc:creator>
  <dc:subject>PptxGenJS Presentation</dc:subject>
  <cp:lastModifiedBy>WPS_1756292223</cp:lastModifiedBy>
  <cp:revision>11</cp:revision>
  <dcterms:created xsi:type="dcterms:W3CDTF">2026-07-18T08:36:03Z</dcterms:created>
  <dcterms:modified xsi:type="dcterms:W3CDTF">2026-07-18T08:36:03Z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2052-12.1.26035.26035</vt:lpwstr>
  </property>
  <property fmtid="{D5CDD505-2E9C-101B-9397-08002B2CF9AE}" pid="3" name="ICV">
    <vt:lpwstr>692D8BA3372CFEBC04195B6AC18FD2A2_42</vt:lpwstr>
  </property>
</Properties>
</file>